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78D4"/>
                </a:solidFill>
              </a:defRPr>
            </a:pPr>
            <a:r>
              <a:t>Copilot Studio Prompting Guide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/>
            </a:pPr>
            <a:r>
              <a:t>Mastering Prompt Engineering for Power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78D4"/>
                </a:solidFill>
              </a:defRPr>
            </a:pPr>
            <a:r>
              <a:t>What Can You Build with Prompts?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78D4"/>
                </a:solidFill>
              </a:defRPr>
            </a:pPr>
            <a:r>
              <a:t>• Classification</a:t>
            </a:r>
          </a:p>
          <a:p>
            <a:pPr lvl="1">
              <a:defRPr sz="1400"/>
            </a:pPr>
            <a:r>
              <a:t>Categorize text into topics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137160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78D4"/>
                </a:solidFill>
              </a:defRPr>
            </a:pPr>
            <a:r>
              <a:t>• Summarization</a:t>
            </a:r>
          </a:p>
          <a:p>
            <a:pPr lvl="1">
              <a:defRPr sz="1400"/>
            </a:pPr>
            <a:r>
              <a:t>Condense information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46888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78D4"/>
                </a:solidFill>
              </a:defRPr>
            </a:pPr>
            <a:r>
              <a:t>• Sentiment Analysis</a:t>
            </a:r>
          </a:p>
          <a:p>
            <a:pPr lvl="1">
              <a:defRPr sz="1400"/>
            </a:pPr>
            <a:r>
              <a:t>Detect positive/negative tone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246888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78D4"/>
                </a:solidFill>
              </a:defRPr>
            </a:pPr>
            <a:r>
              <a:t>• Information Extraction</a:t>
            </a:r>
          </a:p>
          <a:p>
            <a:pPr lvl="1">
              <a:defRPr sz="1400"/>
            </a:pPr>
            <a:r>
              <a:t>Find key data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56616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78D4"/>
                </a:solidFill>
              </a:defRPr>
            </a:pPr>
            <a:r>
              <a:t>• Content Rewriting</a:t>
            </a:r>
          </a:p>
          <a:p>
            <a:pPr lvl="1">
              <a:defRPr sz="1400"/>
            </a:pPr>
            <a:r>
              <a:t>Simplify or adapt language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356616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78D4"/>
                </a:solidFill>
              </a:defRPr>
            </a:pPr>
            <a:r>
              <a:t>• Response Drafting</a:t>
            </a:r>
          </a:p>
          <a:p>
            <a:pPr lvl="1">
              <a:defRPr sz="1400"/>
            </a:pPr>
            <a:r>
              <a:t>Create contextual replies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78D4"/>
                </a:solidFill>
              </a:defRPr>
            </a:pPr>
            <a:r>
              <a:t>What is Prompt Engineering?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i="1">
                <a:solidFill>
                  <a:srgbClr val="444444"/>
                </a:solidFill>
              </a:defRPr>
            </a:pPr>
            <a:r>
              <a:t>The art of crafting effective prompts to guide AI behavior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6400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rPr b="1">
                <a:solidFill>
                  <a:srgbClr val="0078D4"/>
                </a:solidFill>
              </a:rPr>
              <a:t>1. Task: Clear instruction telling AI what to do</a:t>
            </a:r>
          </a:p>
          <a:p>
            <a:pPr>
              <a:spcAft>
                <a:spcPts val="1200"/>
              </a:spcAft>
              <a:defRPr sz="1800"/>
            </a:pPr>
            <a:r>
              <a:rPr b="1">
                <a:solidFill>
                  <a:srgbClr val="0078D4"/>
                </a:solidFill>
              </a:rPr>
              <a:t>2. Context: Data and input variables</a:t>
            </a:r>
          </a:p>
          <a:p>
            <a:pPr>
              <a:spcAft>
                <a:spcPts val="1200"/>
              </a:spcAft>
              <a:defRPr sz="1800"/>
            </a:pPr>
            <a:r>
              <a:rPr b="1">
                <a:solidFill>
                  <a:srgbClr val="0078D4"/>
                </a:solidFill>
              </a:rPr>
              <a:t>3. Output Expectations: Format and style requirements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78D4"/>
                </a:solidFill>
              </a:defRPr>
            </a:pPr>
            <a:r>
              <a:t>Do's and Don'ts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008000"/>
                </a:solidFill>
              </a:defRPr>
            </a:pPr>
            <a:r>
              <a:t>✅ DO:</a:t>
            </a:r>
          </a:p>
          <a:p>
            <a:pPr lvl="1">
              <a:spcAft>
                <a:spcPts val="800"/>
              </a:spcAft>
              <a:defRPr sz="1600"/>
            </a:pPr>
            <a:r>
              <a:t>Be clear and specific</a:t>
            </a:r>
          </a:p>
          <a:p>
            <a:pPr lvl="1">
              <a:spcAft>
                <a:spcPts val="800"/>
              </a:spcAft>
              <a:defRPr sz="1600"/>
            </a:pPr>
            <a:r>
              <a:t>Give examples</a:t>
            </a:r>
          </a:p>
          <a:p>
            <a:pPr lvl="1">
              <a:spcAft>
                <a:spcPts val="800"/>
              </a:spcAft>
              <a:defRPr sz="1600"/>
            </a:pPr>
            <a:r>
              <a:t>Define output format</a:t>
            </a:r>
          </a:p>
          <a:p>
            <a:pPr lvl="1">
              <a:spcAft>
                <a:spcPts val="800"/>
              </a:spcAft>
              <a:defRPr sz="1600"/>
            </a:pPr>
            <a:r>
              <a:t>Test and iterate</a:t>
            </a:r>
          </a:p>
          <a:p>
            <a:pPr lvl="1">
              <a:spcAft>
                <a:spcPts val="800"/>
              </a:spcAft>
              <a:defRPr sz="1600"/>
            </a:pPr>
            <a:r>
              <a:t>Include human oversight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1371600"/>
            <a:ext cx="3657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C00000"/>
                </a:solidFill>
              </a:defRPr>
            </a:pPr>
            <a:r>
              <a:t>❌ DON'T:</a:t>
            </a:r>
          </a:p>
          <a:p>
            <a:pPr lvl="1">
              <a:spcAft>
                <a:spcPts val="800"/>
              </a:spcAft>
              <a:defRPr sz="1600"/>
            </a:pPr>
            <a:r>
              <a:t>Use vague language</a:t>
            </a:r>
          </a:p>
          <a:p>
            <a:pPr lvl="1">
              <a:spcAft>
                <a:spcPts val="800"/>
              </a:spcAft>
              <a:defRPr sz="1600"/>
            </a:pPr>
            <a:r>
              <a:t>Give conflicting instructions</a:t>
            </a:r>
          </a:p>
          <a:p>
            <a:pPr lvl="1">
              <a:spcAft>
                <a:spcPts val="800"/>
              </a:spcAft>
              <a:defRPr sz="1600"/>
            </a:pPr>
            <a:r>
              <a:t>Use slang/jargon</a:t>
            </a:r>
          </a:p>
          <a:p>
            <a:pPr lvl="1">
              <a:spcAft>
                <a:spcPts val="800"/>
              </a:spcAft>
              <a:defRPr sz="1600"/>
            </a:pPr>
            <a:r>
              <a:t>Assume prior knowledge</a:t>
            </a:r>
          </a:p>
          <a:p>
            <a:pPr lvl="1">
              <a:spcAft>
                <a:spcPts val="800"/>
              </a:spcAft>
              <a:defRPr sz="1600"/>
            </a:pPr>
            <a:r>
              <a:t>Overcomplicate prompts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78D4"/>
                </a:solidFill>
              </a:defRPr>
            </a:pPr>
            <a:r>
              <a:t>Key Takeaways &amp; Responsible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• Prompts use Azure OpenAI models and consume Copilot Credits</a:t>
            </a:r>
          </a:p>
          <a:p>
            <a:pPr>
              <a:spcAft>
                <a:spcPts val="1000"/>
              </a:spcAft>
              <a:defRPr sz="1800"/>
            </a:pPr>
            <a:r>
              <a:t>• Can be saved as Tools, Agents, and Workflows in Copilot Studio</a:t>
            </a:r>
          </a:p>
          <a:p>
            <a:pPr>
              <a:spcAft>
                <a:spcPts val="1000"/>
              </a:spcAft>
              <a:defRPr sz="1800"/>
            </a:pPr>
            <a:r>
              <a:t>• Prompt engineering is iterative — experiment and refine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0078D4"/>
                </a:solidFill>
              </a:defRPr>
            </a:pPr>
            <a:r>
              <a:t>Responsible AI Principles:</a:t>
            </a:r>
          </a:p>
          <a:p>
            <a:pPr algn="ctr">
              <a:defRPr sz="1600"/>
            </a:pPr>
            <a:r>
              <a:t>Fairness • Privacy &amp; Security • Transparency • Reliability &amp; Safety • Inclusiveness • Accountability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